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handoutMasterIdLst>
    <p:handoutMasterId r:id="rId19"/>
  </p:handoutMasterIdLst>
  <p:sldIdLst>
    <p:sldId id="281" r:id="rId5"/>
    <p:sldId id="284" r:id="rId6"/>
    <p:sldId id="280" r:id="rId7"/>
    <p:sldId id="278" r:id="rId8"/>
    <p:sldId id="261" r:id="rId9"/>
    <p:sldId id="273" r:id="rId10"/>
    <p:sldId id="279" r:id="rId11"/>
    <p:sldId id="265" r:id="rId12"/>
    <p:sldId id="277" r:id="rId13"/>
    <p:sldId id="266" r:id="rId14"/>
    <p:sldId id="292" r:id="rId15"/>
    <p:sldId id="293" r:id="rId16"/>
    <p:sldId id="28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79" autoAdjust="0"/>
  </p:normalViewPr>
  <p:slideViewPr>
    <p:cSldViewPr snapToGrid="0">
      <p:cViewPr varScale="1">
        <p:scale>
          <a:sx n="78" d="100"/>
          <a:sy n="78" d="100"/>
        </p:scale>
        <p:origin x="878" y="43"/>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7/1/2026</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7/1/2026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2217294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3</a:t>
            </a:fld>
            <a:endParaRPr lang="en-US"/>
          </a:p>
        </p:txBody>
      </p:sp>
    </p:spTree>
    <p:extLst>
      <p:ext uri="{BB962C8B-B14F-4D97-AF65-F5344CB8AC3E}">
        <p14:creationId xmlns:p14="http://schemas.microsoft.com/office/powerpoint/2010/main" val="2295017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4</a:t>
            </a:fld>
            <a:endParaRPr lang="en-US"/>
          </a:p>
        </p:txBody>
      </p:sp>
    </p:spTree>
    <p:extLst>
      <p:ext uri="{BB962C8B-B14F-4D97-AF65-F5344CB8AC3E}">
        <p14:creationId xmlns:p14="http://schemas.microsoft.com/office/powerpoint/2010/main" val="854501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5</a:t>
            </a:fld>
            <a:endParaRPr lang="en-US"/>
          </a:p>
        </p:txBody>
      </p:sp>
    </p:spTree>
    <p:extLst>
      <p:ext uri="{BB962C8B-B14F-4D97-AF65-F5344CB8AC3E}">
        <p14:creationId xmlns:p14="http://schemas.microsoft.com/office/powerpoint/2010/main" val="838339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6</a:t>
            </a:fld>
            <a:endParaRPr lang="en-US"/>
          </a:p>
        </p:txBody>
      </p:sp>
    </p:spTree>
    <p:extLst>
      <p:ext uri="{BB962C8B-B14F-4D97-AF65-F5344CB8AC3E}">
        <p14:creationId xmlns:p14="http://schemas.microsoft.com/office/powerpoint/2010/main" val="3155431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7</a:t>
            </a:fld>
            <a:endParaRPr lang="en-US"/>
          </a:p>
        </p:txBody>
      </p:sp>
    </p:spTree>
    <p:extLst>
      <p:ext uri="{BB962C8B-B14F-4D97-AF65-F5344CB8AC3E}">
        <p14:creationId xmlns:p14="http://schemas.microsoft.com/office/powerpoint/2010/main" val="27937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8</a:t>
            </a:fld>
            <a:endParaRPr lang="en-US"/>
          </a:p>
        </p:txBody>
      </p:sp>
    </p:spTree>
    <p:extLst>
      <p:ext uri="{BB962C8B-B14F-4D97-AF65-F5344CB8AC3E}">
        <p14:creationId xmlns:p14="http://schemas.microsoft.com/office/powerpoint/2010/main" val="1015613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9</a:t>
            </a:fld>
            <a:endParaRPr lang="en-US"/>
          </a:p>
        </p:txBody>
      </p:sp>
    </p:spTree>
    <p:extLst>
      <p:ext uri="{BB962C8B-B14F-4D97-AF65-F5344CB8AC3E}">
        <p14:creationId xmlns:p14="http://schemas.microsoft.com/office/powerpoint/2010/main" val="17186319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10</a:t>
            </a:fld>
            <a:endParaRPr lang="en-US"/>
          </a:p>
        </p:txBody>
      </p:sp>
    </p:spTree>
    <p:extLst>
      <p:ext uri="{BB962C8B-B14F-4D97-AF65-F5344CB8AC3E}">
        <p14:creationId xmlns:p14="http://schemas.microsoft.com/office/powerpoint/2010/main" val="29863874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74E77-8F7F-C091-A6CD-F95913330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F8D03-BCD3-2516-5A17-7890FD56F6B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143AAD0-5D1A-5384-531C-8A99D3C1553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E54F1F-92BA-AFB1-9D22-E7208D0FEDEF}"/>
              </a:ext>
            </a:extLst>
          </p:cNvPr>
          <p:cNvSpPr>
            <a:spLocks noGrp="1"/>
          </p:cNvSpPr>
          <p:nvPr>
            <p:ph type="sldNum" sz="quarter" idx="5"/>
          </p:nvPr>
        </p:nvSpPr>
        <p:spPr/>
        <p:txBody>
          <a:bodyPr/>
          <a:lstStyle/>
          <a:p>
            <a:fld id="{55247812-3409-784D-BAE7-ABE53735D59F}" type="slidenum">
              <a:rPr lang="en-US" smtClean="0"/>
              <a:t>11</a:t>
            </a:fld>
            <a:endParaRPr lang="en-US"/>
          </a:p>
        </p:txBody>
      </p:sp>
    </p:spTree>
    <p:extLst>
      <p:ext uri="{BB962C8B-B14F-4D97-AF65-F5344CB8AC3E}">
        <p14:creationId xmlns:p14="http://schemas.microsoft.com/office/powerpoint/2010/main" val="4126273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D5D4C-E848-1BB2-8EE6-5336A16298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BED06-B4C0-F9E0-3E25-16B707466E5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B517B1D-A7BD-C938-91FA-8945D59C55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47F8AC-8C47-7405-2BAF-2F8F4DB52F94}"/>
              </a:ext>
            </a:extLst>
          </p:cNvPr>
          <p:cNvSpPr>
            <a:spLocks noGrp="1"/>
          </p:cNvSpPr>
          <p:nvPr>
            <p:ph type="sldNum" sz="quarter" idx="5"/>
          </p:nvPr>
        </p:nvSpPr>
        <p:spPr/>
        <p:txBody>
          <a:bodyPr/>
          <a:lstStyle/>
          <a:p>
            <a:fld id="{55247812-3409-784D-BAE7-ABE53735D59F}" type="slidenum">
              <a:rPr lang="en-US" smtClean="0"/>
              <a:t>12</a:t>
            </a:fld>
            <a:endParaRPr lang="en-US"/>
          </a:p>
        </p:txBody>
      </p:sp>
    </p:spTree>
    <p:extLst>
      <p:ext uri="{BB962C8B-B14F-4D97-AF65-F5344CB8AC3E}">
        <p14:creationId xmlns:p14="http://schemas.microsoft.com/office/powerpoint/2010/main" val="984985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transition spd="slow">
    <p:push dir="u"/>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7/1/2026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7/1/2026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7/1/2026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7/1/2026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7/1/2026</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7/1/2026</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ransition spd="slow">
    <p:push dir="u"/>
  </p:transition>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microsoft.com/office/2007/relationships/hdphoto" Target="../media/hdphoto3.wd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microsoft.com/office/2007/relationships/hdphoto" Target="../media/hdphoto4.wdp"/></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216310" y="235975"/>
            <a:ext cx="11828206" cy="2566220"/>
          </a:xfrm>
        </p:spPr>
        <p:txBody>
          <a:bodyPr/>
          <a:lstStyle/>
          <a:p>
            <a:r>
              <a:rPr lang="en-US" dirty="0"/>
              <a:t>Predictive Maintenance Using Machine Learning for Early Fault Detection</a:t>
            </a:r>
          </a:p>
        </p:txBody>
      </p:sp>
      <p:sp>
        <p:nvSpPr>
          <p:cNvPr id="2" name="TextBox 1">
            <a:extLst>
              <a:ext uri="{FF2B5EF4-FFF2-40B4-BE49-F238E27FC236}">
                <a16:creationId xmlns:a16="http://schemas.microsoft.com/office/drawing/2014/main" id="{BF4A353C-6315-5274-DA66-06CCDC1F57FD}"/>
              </a:ext>
            </a:extLst>
          </p:cNvPr>
          <p:cNvSpPr txBox="1"/>
          <p:nvPr/>
        </p:nvSpPr>
        <p:spPr>
          <a:xfrm>
            <a:off x="0" y="3357172"/>
            <a:ext cx="5309419" cy="3970318"/>
          </a:xfrm>
          <a:prstGeom prst="rect">
            <a:avLst/>
          </a:prstGeom>
          <a:noFill/>
        </p:spPr>
        <p:txBody>
          <a:bodyPr wrap="square" rtlCol="0">
            <a:spAutoFit/>
          </a:bodyPr>
          <a:lstStyle/>
          <a:p>
            <a:r>
              <a:rPr lang="en-US" sz="2800" dirty="0">
                <a:solidFill>
                  <a:schemeClr val="bg1"/>
                </a:solidFill>
              </a:rPr>
              <a:t>Presented By:</a:t>
            </a:r>
            <a:br>
              <a:rPr lang="en-US" sz="2800" dirty="0">
                <a:solidFill>
                  <a:schemeClr val="bg1"/>
                </a:solidFill>
              </a:rPr>
            </a:br>
            <a:r>
              <a:rPr lang="en-US" sz="2800" b="1" dirty="0">
                <a:solidFill>
                  <a:schemeClr val="bg1"/>
                </a:solidFill>
              </a:rPr>
              <a:t>Prajwal Gurivindapalli</a:t>
            </a:r>
          </a:p>
          <a:p>
            <a:r>
              <a:rPr lang="en-US" sz="2800" dirty="0">
                <a:solidFill>
                  <a:schemeClr val="bg1"/>
                </a:solidFill>
              </a:rPr>
              <a:t>Masters in Data Science</a:t>
            </a:r>
          </a:p>
          <a:p>
            <a:r>
              <a:rPr lang="en-US" sz="2800" dirty="0">
                <a:solidFill>
                  <a:schemeClr val="bg1"/>
                </a:solidFill>
              </a:rPr>
              <a:t>University of Europe for Applied Sciences</a:t>
            </a:r>
          </a:p>
          <a:p>
            <a:r>
              <a:rPr lang="en-US" sz="2800" dirty="0">
                <a:solidFill>
                  <a:schemeClr val="bg1"/>
                </a:solidFill>
              </a:rPr>
              <a:t>Professors: Iftikhar Ahmed</a:t>
            </a:r>
            <a:br>
              <a:rPr lang="en-US" sz="2800" dirty="0">
                <a:solidFill>
                  <a:schemeClr val="bg1"/>
                </a:solidFill>
              </a:rPr>
            </a:br>
            <a:r>
              <a:rPr lang="en-US" sz="2800" dirty="0">
                <a:solidFill>
                  <a:schemeClr val="bg1"/>
                </a:solidFill>
              </a:rPr>
              <a:t>                               &amp;</a:t>
            </a:r>
          </a:p>
          <a:p>
            <a:r>
              <a:rPr lang="en-US" sz="2800" dirty="0">
                <a:solidFill>
                  <a:schemeClr val="bg1"/>
                </a:solidFill>
              </a:rPr>
              <a:t>                     Shan Faiz</a:t>
            </a:r>
            <a:br>
              <a:rPr lang="en-US" sz="2800" dirty="0">
                <a:solidFill>
                  <a:schemeClr val="bg1"/>
                </a:solidFill>
              </a:rPr>
            </a:br>
            <a:endParaRPr lang="en-US" sz="2800" dirty="0">
              <a:solidFill>
                <a:schemeClr val="bg1"/>
              </a:solidFill>
            </a:endParaRPr>
          </a:p>
        </p:txBody>
      </p:sp>
    </p:spTree>
    <p:extLst>
      <p:ext uri="{BB962C8B-B14F-4D97-AF65-F5344CB8AC3E}">
        <p14:creationId xmlns:p14="http://schemas.microsoft.com/office/powerpoint/2010/main" val="63926476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AD706-11EF-C258-EBD5-C4EEFEAACF16}"/>
              </a:ext>
            </a:extLst>
          </p:cNvPr>
          <p:cNvSpPr>
            <a:spLocks noGrp="1"/>
          </p:cNvSpPr>
          <p:nvPr>
            <p:ph type="title"/>
          </p:nvPr>
        </p:nvSpPr>
        <p:spPr>
          <a:xfrm>
            <a:off x="6562816" y="457200"/>
            <a:ext cx="4837176" cy="732503"/>
          </a:xfrm>
          <a:noFill/>
        </p:spPr>
        <p:txBody>
          <a:bodyPr anchor="b">
            <a:noAutofit/>
          </a:bodyPr>
          <a:lstStyle/>
          <a:p>
            <a:r>
              <a:rPr lang="en-US" dirty="0"/>
              <a:t>Problem Statement</a:t>
            </a:r>
          </a:p>
        </p:txBody>
      </p:sp>
      <p:pic>
        <p:nvPicPr>
          <p:cNvPr id="15" name="Picture Placeholder 14" descr="A group of people sitting around a table">
            <a:extLst>
              <a:ext uri="{FF2B5EF4-FFF2-40B4-BE49-F238E27FC236}">
                <a16:creationId xmlns:a16="http://schemas.microsoft.com/office/drawing/2014/main" id="{E4DF753A-3575-A0D9-5135-8A94308DC03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 r="2"/>
          <a:stretch/>
        </p:blipFill>
        <p:spPr>
          <a:xfrm>
            <a:off x="-28882" y="0"/>
            <a:ext cx="6115050" cy="6858000"/>
          </a:xfrm>
        </p:spPr>
      </p:pic>
      <p:sp>
        <p:nvSpPr>
          <p:cNvPr id="3" name="Content Placeholder 2">
            <a:extLst>
              <a:ext uri="{FF2B5EF4-FFF2-40B4-BE49-F238E27FC236}">
                <a16:creationId xmlns:a16="http://schemas.microsoft.com/office/drawing/2014/main" id="{992EC4A8-49EE-CF82-CFDC-BA9308ED0D65}"/>
              </a:ext>
            </a:extLst>
          </p:cNvPr>
          <p:cNvSpPr>
            <a:spLocks noGrp="1"/>
          </p:cNvSpPr>
          <p:nvPr>
            <p:ph idx="1"/>
          </p:nvPr>
        </p:nvSpPr>
        <p:spPr>
          <a:xfrm>
            <a:off x="6474328" y="1860804"/>
            <a:ext cx="4837174" cy="3136392"/>
          </a:xfrm>
          <a:noFill/>
        </p:spPr>
        <p:txBody>
          <a:bodyPr anchor="t">
            <a:normAutofit fontScale="47500" lnSpcReduction="20000"/>
          </a:bodyPr>
          <a:lstStyle/>
          <a:p>
            <a:r>
              <a:rPr lang="en-US" dirty="0"/>
              <a:t>Industrial equipment failures result in:</a:t>
            </a:r>
          </a:p>
          <a:p>
            <a:pPr marL="285750" indent="-285750">
              <a:buFont typeface="Arial" panose="020B0604020202020204" pitchFamily="34" charset="0"/>
              <a:buChar char="•"/>
            </a:pPr>
            <a:r>
              <a:rPr lang="en-US" dirty="0"/>
              <a:t>Unplanned downtime </a:t>
            </a:r>
          </a:p>
          <a:p>
            <a:pPr marL="285750" indent="-285750">
              <a:buFont typeface="Arial" panose="020B0604020202020204" pitchFamily="34" charset="0"/>
              <a:buChar char="•"/>
            </a:pPr>
            <a:r>
              <a:rPr lang="en-US" dirty="0"/>
              <a:t>Increased maintenance costs </a:t>
            </a:r>
          </a:p>
          <a:p>
            <a:pPr marL="285750" indent="-285750">
              <a:buFont typeface="Arial" panose="020B0604020202020204" pitchFamily="34" charset="0"/>
              <a:buChar char="•"/>
            </a:pPr>
            <a:r>
              <a:rPr lang="en-US" dirty="0"/>
              <a:t>Reduced productivity </a:t>
            </a:r>
          </a:p>
          <a:p>
            <a:pPr marL="285750" indent="-285750">
              <a:buFont typeface="Arial" panose="020B0604020202020204" pitchFamily="34" charset="0"/>
              <a:buChar char="•"/>
            </a:pPr>
            <a:r>
              <a:rPr lang="en-US" dirty="0"/>
              <a:t>Production losses </a:t>
            </a:r>
          </a:p>
          <a:p>
            <a:r>
              <a:rPr lang="en-US" dirty="0"/>
              <a:t>Traditional maintenance approaches are inefficient because they either react after failures occur or perform maintenance unnecessarily.</a:t>
            </a:r>
          </a:p>
          <a:p>
            <a:r>
              <a:rPr lang="en-US" b="1" dirty="0"/>
              <a:t>Proposed Solution</a:t>
            </a:r>
          </a:p>
          <a:p>
            <a:r>
              <a:rPr lang="en-US" dirty="0"/>
              <a:t>Use Machine Learning to predict failures before they occur.</a:t>
            </a:r>
          </a:p>
        </p:txBody>
      </p:sp>
    </p:spTree>
    <p:extLst>
      <p:ext uri="{BB962C8B-B14F-4D97-AF65-F5344CB8AC3E}">
        <p14:creationId xmlns:p14="http://schemas.microsoft.com/office/powerpoint/2010/main" val="1672017990"/>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close up of computer code">
            <a:extLst>
              <a:ext uri="{FF2B5EF4-FFF2-40B4-BE49-F238E27FC236}">
                <a16:creationId xmlns:a16="http://schemas.microsoft.com/office/drawing/2014/main" id="{94D43AA7-0244-2FEB-86AC-B5DECE0232D8}"/>
              </a:ext>
            </a:extLst>
          </p:cNvPr>
          <p:cNvPicPr>
            <a:picLocks noGrp="1" noChangeAspect="1"/>
          </p:cNvPicPr>
          <p:nvPr>
            <p:ph type="pic" sz="quarter" idx="10"/>
          </p:nvPr>
        </p:nvPicPr>
        <p:blipFill rotWithShape="1">
          <a:blip r:embed="rId3">
            <a:alphaModFix amt="40000"/>
            <a:extLst>
              <a:ext uri="{BEBA8EAE-BF5A-486C-A8C5-ECC9F3942E4B}">
                <a14:imgProps xmlns:a14="http://schemas.microsoft.com/office/drawing/2010/main">
                  <a14:imgLayer r:embed="rId4">
                    <a14:imgEffect>
                      <a14:saturation sat="0"/>
                    </a14:imgEffect>
                  </a14:imgLayer>
                </a14:imgProps>
              </a:ext>
            </a:extLst>
          </a:blip>
          <a:srcRect t="7813" b="7813"/>
          <a:stretch/>
        </p:blipFill>
        <p:spPr>
          <a:xfrm>
            <a:off x="0" y="0"/>
            <a:ext cx="12192000" cy="6858000"/>
          </a:xfrm>
        </p:spPr>
      </p:pic>
      <p:sp>
        <p:nvSpPr>
          <p:cNvPr id="3" name="Title 2">
            <a:extLst>
              <a:ext uri="{FF2B5EF4-FFF2-40B4-BE49-F238E27FC236}">
                <a16:creationId xmlns:a16="http://schemas.microsoft.com/office/drawing/2014/main" id="{B2F3FA79-DE26-1F2A-0CF7-5671B73C8B6F}"/>
              </a:ext>
            </a:extLst>
          </p:cNvPr>
          <p:cNvSpPr>
            <a:spLocks noGrp="1"/>
          </p:cNvSpPr>
          <p:nvPr>
            <p:ph type="ctrTitle"/>
          </p:nvPr>
        </p:nvSpPr>
        <p:spPr>
          <a:xfrm>
            <a:off x="1297858" y="319549"/>
            <a:ext cx="9144000" cy="2286000"/>
          </a:xfrm>
        </p:spPr>
        <p:txBody>
          <a:bodyPr/>
          <a:lstStyle/>
          <a:p>
            <a:r>
              <a:rPr lang="en-US" dirty="0"/>
              <a:t>Research Objectives</a:t>
            </a:r>
          </a:p>
        </p:txBody>
      </p:sp>
      <p:sp>
        <p:nvSpPr>
          <p:cNvPr id="2" name="TextBox 1">
            <a:extLst>
              <a:ext uri="{FF2B5EF4-FFF2-40B4-BE49-F238E27FC236}">
                <a16:creationId xmlns:a16="http://schemas.microsoft.com/office/drawing/2014/main" id="{3E4F17A8-651D-5068-B7A2-AA4961B92D0A}"/>
              </a:ext>
            </a:extLst>
          </p:cNvPr>
          <p:cNvSpPr txBox="1"/>
          <p:nvPr/>
        </p:nvSpPr>
        <p:spPr>
          <a:xfrm>
            <a:off x="452284" y="2467896"/>
            <a:ext cx="11474245" cy="3416320"/>
          </a:xfrm>
          <a:prstGeom prst="rect">
            <a:avLst/>
          </a:prstGeom>
          <a:noFill/>
        </p:spPr>
        <p:txBody>
          <a:bodyPr wrap="square" rtlCol="0">
            <a:spAutoFit/>
          </a:bodyPr>
          <a:lstStyle/>
          <a:p>
            <a:r>
              <a:rPr lang="en-US" sz="2400" b="1" dirty="0">
                <a:solidFill>
                  <a:schemeClr val="bg1"/>
                </a:solidFill>
              </a:rPr>
              <a:t>Primary Objective</a:t>
            </a:r>
          </a:p>
          <a:p>
            <a:r>
              <a:rPr lang="en-US" sz="2400" dirty="0">
                <a:solidFill>
                  <a:schemeClr val="bg1"/>
                </a:solidFill>
              </a:rPr>
              <a:t>Develop and evaluate machine learning models for predictive maintenance.</a:t>
            </a:r>
          </a:p>
          <a:p>
            <a:endParaRPr lang="en-US" sz="2400" b="1" dirty="0">
              <a:solidFill>
                <a:schemeClr val="bg1"/>
              </a:solidFill>
            </a:endParaRPr>
          </a:p>
          <a:p>
            <a:r>
              <a:rPr lang="en-US" sz="2400" b="1" dirty="0">
                <a:solidFill>
                  <a:schemeClr val="bg1"/>
                </a:solidFill>
              </a:rPr>
              <a:t>Specific Objectives</a:t>
            </a:r>
          </a:p>
          <a:p>
            <a:pPr marL="285750" indent="-285750">
              <a:buFont typeface="Arial" panose="020B0604020202020204" pitchFamily="34" charset="0"/>
              <a:buChar char="•"/>
            </a:pPr>
            <a:r>
              <a:rPr lang="en-US" sz="2400" dirty="0">
                <a:solidFill>
                  <a:schemeClr val="bg1"/>
                </a:solidFill>
              </a:rPr>
              <a:t>Analyze machine sensor data </a:t>
            </a:r>
          </a:p>
          <a:p>
            <a:pPr marL="285750" indent="-285750">
              <a:buFont typeface="Arial" panose="020B0604020202020204" pitchFamily="34" charset="0"/>
              <a:buChar char="•"/>
            </a:pPr>
            <a:r>
              <a:rPr lang="en-US" sz="2400" dirty="0">
                <a:solidFill>
                  <a:schemeClr val="bg1"/>
                </a:solidFill>
              </a:rPr>
              <a:t>Predict machine failures </a:t>
            </a:r>
          </a:p>
          <a:p>
            <a:pPr marL="285750" indent="-285750">
              <a:buFont typeface="Arial" panose="020B0604020202020204" pitchFamily="34" charset="0"/>
              <a:buChar char="•"/>
            </a:pPr>
            <a:r>
              <a:rPr lang="en-US" sz="2400" dirty="0">
                <a:solidFill>
                  <a:schemeClr val="bg1"/>
                </a:solidFill>
              </a:rPr>
              <a:t>Compare machine learning algorithms </a:t>
            </a:r>
          </a:p>
          <a:p>
            <a:pPr marL="285750" indent="-285750">
              <a:buFont typeface="Arial" panose="020B0604020202020204" pitchFamily="34" charset="0"/>
              <a:buChar char="•"/>
            </a:pPr>
            <a:r>
              <a:rPr lang="en-US" sz="2400" dirty="0">
                <a:solidFill>
                  <a:schemeClr val="bg1"/>
                </a:solidFill>
              </a:rPr>
              <a:t>Identify key failure indicators </a:t>
            </a:r>
          </a:p>
          <a:p>
            <a:pPr marL="285750" indent="-285750">
              <a:buFont typeface="Arial" panose="020B0604020202020204" pitchFamily="34" charset="0"/>
              <a:buChar char="•"/>
            </a:pPr>
            <a:r>
              <a:rPr lang="en-US" sz="2400" dirty="0">
                <a:solidFill>
                  <a:schemeClr val="bg1"/>
                </a:solidFill>
              </a:rPr>
              <a:t>Improve maintenance decision-making </a:t>
            </a:r>
          </a:p>
        </p:txBody>
      </p:sp>
    </p:spTree>
    <p:extLst>
      <p:ext uri="{BB962C8B-B14F-4D97-AF65-F5344CB8AC3E}">
        <p14:creationId xmlns:p14="http://schemas.microsoft.com/office/powerpoint/2010/main" val="46786922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1127752" y="1855839"/>
            <a:ext cx="5066250" cy="3146322"/>
          </a:xfrm>
          <a:noFill/>
        </p:spPr>
        <p:txBody>
          <a:bodyPr>
            <a:noAutofit/>
          </a:bodyPr>
          <a:lstStyle/>
          <a:p>
            <a:r>
              <a:rPr lang="en-US" sz="1400" b="1" dirty="0"/>
              <a:t>RQ1</a:t>
            </a:r>
            <a:br>
              <a:rPr lang="en-US" sz="1400" b="1" dirty="0"/>
            </a:br>
            <a:r>
              <a:rPr lang="en-US" sz="1400" dirty="0"/>
              <a:t>How accurately can machine learning models predict machine failures using sensor data?</a:t>
            </a:r>
            <a:br>
              <a:rPr lang="en-US" sz="1400" dirty="0"/>
            </a:br>
            <a:br>
              <a:rPr lang="en-US" sz="1400" dirty="0"/>
            </a:br>
            <a:br>
              <a:rPr lang="en-US" sz="1400" dirty="0"/>
            </a:br>
            <a:r>
              <a:rPr lang="en-US" sz="1400" b="1" dirty="0"/>
              <a:t>RQ2</a:t>
            </a:r>
            <a:br>
              <a:rPr lang="en-US" sz="1400" b="1" dirty="0"/>
            </a:br>
            <a:r>
              <a:rPr lang="en-US" sz="1400" dirty="0"/>
              <a:t>Which machine learning model provides the best predictive performance?</a:t>
            </a:r>
            <a:br>
              <a:rPr lang="en-US" sz="1400" dirty="0"/>
            </a:br>
            <a:br>
              <a:rPr lang="en-US" sz="1400" dirty="0"/>
            </a:br>
            <a:br>
              <a:rPr lang="en-US" sz="1400" dirty="0"/>
            </a:br>
            <a:r>
              <a:rPr lang="en-US" sz="1400" b="1" dirty="0"/>
              <a:t>RQ3</a:t>
            </a:r>
            <a:br>
              <a:rPr lang="en-US" sz="1400" b="1" dirty="0"/>
            </a:br>
            <a:r>
              <a:rPr lang="en-US" sz="1400" dirty="0"/>
              <a:t>Which operational parameters contribute most significantly to machine failure prediction?</a:t>
            </a:r>
          </a:p>
        </p:txBody>
      </p:sp>
      <p:pic>
        <p:nvPicPr>
          <p:cNvPr id="91" name="Picture Placeholder 90" descr="A person sitting at a table with her fingers up">
            <a:extLst>
              <a:ext uri="{FF2B5EF4-FFF2-40B4-BE49-F238E27FC236}">
                <a16:creationId xmlns:a16="http://schemas.microsoft.com/office/drawing/2014/main" id="{BC622EA4-CCB7-907A-0126-D0A68A5DC780}"/>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451" r="451"/>
          <a:stretch/>
        </p:blipFill>
        <p:spPr>
          <a:xfrm flipH="1">
            <a:off x="6086167" y="-22225"/>
            <a:ext cx="6080760" cy="6902450"/>
          </a:xfrm>
        </p:spPr>
      </p:pic>
      <p:sp>
        <p:nvSpPr>
          <p:cNvPr id="15" name="Subtitle 14">
            <a:extLst>
              <a:ext uri="{FF2B5EF4-FFF2-40B4-BE49-F238E27FC236}">
                <a16:creationId xmlns:a16="http://schemas.microsoft.com/office/drawing/2014/main" id="{9C373000-EEA1-D16F-189A-338FFDA2E708}"/>
              </a:ext>
            </a:extLst>
          </p:cNvPr>
          <p:cNvSpPr>
            <a:spLocks noGrp="1"/>
          </p:cNvSpPr>
          <p:nvPr>
            <p:ph type="subTitle" idx="1"/>
          </p:nvPr>
        </p:nvSpPr>
        <p:spPr>
          <a:xfrm>
            <a:off x="1127752" y="1092957"/>
            <a:ext cx="5066250" cy="690880"/>
          </a:xfrm>
        </p:spPr>
        <p:txBody>
          <a:bodyPr/>
          <a:lstStyle/>
          <a:p>
            <a:r>
              <a:rPr lang="en-US" dirty="0"/>
              <a:t>Research Questions</a:t>
            </a:r>
          </a:p>
        </p:txBody>
      </p:sp>
    </p:spTree>
    <p:extLst>
      <p:ext uri="{BB962C8B-B14F-4D97-AF65-F5344CB8AC3E}">
        <p14:creationId xmlns:p14="http://schemas.microsoft.com/office/powerpoint/2010/main" val="3930438526"/>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5242425" y="466344"/>
            <a:ext cx="6241651" cy="1710354"/>
          </a:xfrm>
          <a:noFill/>
        </p:spPr>
        <p:txBody>
          <a:bodyPr anchor="ctr"/>
          <a:lstStyle/>
          <a:p>
            <a:r>
              <a:rPr lang="en-US" dirty="0"/>
              <a:t>Literature Review</a:t>
            </a:r>
          </a:p>
        </p:txBody>
      </p:sp>
      <p:pic>
        <p:nvPicPr>
          <p:cNvPr id="20" name="Picture Placeholder 7" descr="A person talking to another person">
            <a:extLst>
              <a:ext uri="{FF2B5EF4-FFF2-40B4-BE49-F238E27FC236}">
                <a16:creationId xmlns:a16="http://schemas.microsoft.com/office/drawing/2014/main" id="{59669B42-CC26-1A2A-1FE7-526E425D0191}"/>
              </a:ext>
            </a:extLst>
          </p:cNvPr>
          <p:cNvPicPr>
            <a:picLocks noGrp="1" noChangeAspect="1"/>
          </p:cNvPicPr>
          <p:nvPr>
            <p:ph type="pic" sz="quarter" idx="10"/>
          </p:nvPr>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l="10437" r="10437"/>
          <a:stretch/>
        </p:blipFill>
        <p:spPr>
          <a:xfrm>
            <a:off x="0" y="0"/>
            <a:ext cx="4287838" cy="6858000"/>
          </a:xfrm>
        </p:spPr>
      </p:pic>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5242426" y="2286000"/>
            <a:ext cx="6241650" cy="3474720"/>
          </a:xfrm>
          <a:noFill/>
        </p:spPr>
        <p:txBody>
          <a:bodyPr vert="horz" lIns="91440" tIns="45720" rIns="91440" bIns="45720" rtlCol="0" anchor="t">
            <a:normAutofit fontScale="85000" lnSpcReduction="20000"/>
          </a:bodyPr>
          <a:lstStyle/>
          <a:p>
            <a:pPr marL="0" indent="0">
              <a:buNone/>
            </a:pPr>
            <a:r>
              <a:rPr lang="en-US" b="1" dirty="0"/>
              <a:t>Key Findings from Literature</a:t>
            </a:r>
          </a:p>
          <a:p>
            <a:r>
              <a:rPr lang="en-US" dirty="0"/>
              <a:t>Predictive maintenance is a core component of Industry 4.0</a:t>
            </a:r>
          </a:p>
          <a:p>
            <a:r>
              <a:rPr lang="en-US" dirty="0"/>
              <a:t>Machine learning significantly improves maintenance planning </a:t>
            </a:r>
          </a:p>
          <a:p>
            <a:r>
              <a:rPr lang="en-US" dirty="0"/>
              <a:t>Ensemble models often outperform traditional algorithms </a:t>
            </a:r>
          </a:p>
          <a:p>
            <a:r>
              <a:rPr lang="en-US" dirty="0"/>
              <a:t>Data quality strongly influences prediction accuracy </a:t>
            </a:r>
          </a:p>
          <a:p>
            <a:r>
              <a:rPr lang="en-US" dirty="0"/>
              <a:t>Explainable AI is becoming important in industrial applications </a:t>
            </a:r>
          </a:p>
          <a:p>
            <a:pPr marL="0" indent="0">
              <a:buNone/>
            </a:pPr>
            <a:r>
              <a:rPr lang="en-US" b="1" dirty="0"/>
              <a:t>Research Gap</a:t>
            </a:r>
          </a:p>
          <a:p>
            <a:pPr marL="0" indent="0">
              <a:buNone/>
            </a:pPr>
            <a:r>
              <a:rPr lang="en-US" dirty="0"/>
              <a:t>Limited comparative studies evaluate multiple machine learning models while also identifying critical failure factors.</a:t>
            </a:r>
          </a:p>
        </p:txBody>
      </p:sp>
    </p:spTree>
    <p:extLst>
      <p:ext uri="{BB962C8B-B14F-4D97-AF65-F5344CB8AC3E}">
        <p14:creationId xmlns:p14="http://schemas.microsoft.com/office/powerpoint/2010/main" val="3666674671"/>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ctrTitle"/>
          </p:nvPr>
        </p:nvSpPr>
        <p:spPr>
          <a:xfrm>
            <a:off x="1347020" y="1484610"/>
            <a:ext cx="9144000" cy="4933336"/>
          </a:xfrm>
          <a:noFill/>
        </p:spPr>
        <p:txBody>
          <a:bodyPr/>
          <a:lstStyle/>
          <a:p>
            <a:r>
              <a:rPr lang="en-US" sz="2000" b="1" dirty="0"/>
              <a:t>Dataset Characteristics</a:t>
            </a:r>
            <a:br>
              <a:rPr lang="en-US" sz="2000" b="1" dirty="0"/>
            </a:br>
            <a:r>
              <a:rPr lang="en-US" sz="2000" dirty="0"/>
              <a:t>Total Records: 10,000 </a:t>
            </a:r>
            <a:br>
              <a:rPr lang="en-US" sz="2000" dirty="0"/>
            </a:br>
            <a:r>
              <a:rPr lang="en-US" sz="2000" dirty="0"/>
              <a:t>Balanced Dataset: 5,000 Failure &amp; 5,000 Non-Failure </a:t>
            </a:r>
            <a:br>
              <a:rPr lang="en-US" sz="2000" dirty="0"/>
            </a:br>
            <a:r>
              <a:rPr lang="en-US" sz="2000" dirty="0"/>
              <a:t>Multiple sensor measurements </a:t>
            </a:r>
            <a:br>
              <a:rPr lang="en-US" sz="2000" dirty="0"/>
            </a:br>
            <a:r>
              <a:rPr lang="en-US" sz="2000" dirty="0"/>
              <a:t>Industrial machine data</a:t>
            </a:r>
            <a:br>
              <a:rPr lang="en-US" sz="2000" dirty="0"/>
            </a:br>
            <a:r>
              <a:rPr lang="en-US" sz="2000" dirty="0"/>
              <a:t> </a:t>
            </a:r>
            <a:br>
              <a:rPr lang="en-US" sz="2000" dirty="0"/>
            </a:br>
            <a:r>
              <a:rPr lang="en-US" sz="2000" b="1" dirty="0"/>
              <a:t>Features</a:t>
            </a:r>
            <a:br>
              <a:rPr lang="en-US" sz="2000" b="1" dirty="0"/>
            </a:br>
            <a:r>
              <a:rPr lang="en-US" sz="2000" dirty="0"/>
              <a:t>Air Temperature </a:t>
            </a:r>
            <a:br>
              <a:rPr lang="en-US" sz="2000" dirty="0"/>
            </a:br>
            <a:r>
              <a:rPr lang="en-US" sz="2000" dirty="0"/>
              <a:t>Process Temperature </a:t>
            </a:r>
            <a:br>
              <a:rPr lang="en-US" sz="2000" dirty="0"/>
            </a:br>
            <a:r>
              <a:rPr lang="en-US" sz="2000" dirty="0"/>
              <a:t>Rotational Speed </a:t>
            </a:r>
            <a:br>
              <a:rPr lang="en-US" sz="2000" dirty="0"/>
            </a:br>
            <a:r>
              <a:rPr lang="en-US" sz="2000" dirty="0"/>
              <a:t>Torque </a:t>
            </a:r>
            <a:br>
              <a:rPr lang="en-US" sz="2000" dirty="0"/>
            </a:br>
            <a:r>
              <a:rPr lang="en-US" sz="2000" dirty="0"/>
              <a:t>Tool Wear </a:t>
            </a:r>
            <a:br>
              <a:rPr lang="en-US" sz="2000" dirty="0"/>
            </a:br>
            <a:r>
              <a:rPr lang="en-US" sz="2000" dirty="0"/>
              <a:t>Machine Type </a:t>
            </a:r>
            <a:br>
              <a:rPr lang="en-US" sz="2000" dirty="0"/>
            </a:br>
            <a:br>
              <a:rPr lang="en-US" sz="2000" dirty="0"/>
            </a:br>
            <a:r>
              <a:rPr lang="en-US" sz="2000" b="1" dirty="0"/>
              <a:t>Target Variable</a:t>
            </a:r>
            <a:br>
              <a:rPr lang="en-US" sz="2000" b="1" dirty="0"/>
            </a:br>
            <a:r>
              <a:rPr lang="en-US" sz="2000" dirty="0"/>
              <a:t>Machine Failure (0 / 1)</a:t>
            </a:r>
          </a:p>
        </p:txBody>
      </p:sp>
      <p:sp>
        <p:nvSpPr>
          <p:cNvPr id="12" name="Subtitle 11">
            <a:extLst>
              <a:ext uri="{FF2B5EF4-FFF2-40B4-BE49-F238E27FC236}">
                <a16:creationId xmlns:a16="http://schemas.microsoft.com/office/drawing/2014/main" id="{A336FEA9-C85A-3569-16F0-5ECBABBE0BEC}"/>
              </a:ext>
            </a:extLst>
          </p:cNvPr>
          <p:cNvSpPr>
            <a:spLocks noGrp="1"/>
          </p:cNvSpPr>
          <p:nvPr>
            <p:ph type="subTitle" idx="1"/>
          </p:nvPr>
        </p:nvSpPr>
        <p:spPr>
          <a:xfrm>
            <a:off x="1347020" y="801390"/>
            <a:ext cx="9144000" cy="683219"/>
          </a:xfrm>
        </p:spPr>
        <p:txBody>
          <a:bodyPr/>
          <a:lstStyle/>
          <a:p>
            <a:r>
              <a:rPr lang="en-US" dirty="0"/>
              <a:t>Dataset Overview</a:t>
            </a:r>
          </a:p>
        </p:txBody>
      </p:sp>
    </p:spTree>
    <p:extLst>
      <p:ext uri="{BB962C8B-B14F-4D97-AF65-F5344CB8AC3E}">
        <p14:creationId xmlns:p14="http://schemas.microsoft.com/office/powerpoint/2010/main" val="167993662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838200" y="365760"/>
            <a:ext cx="10515600" cy="801663"/>
          </a:xfrm>
          <a:noFill/>
        </p:spPr>
        <p:txBody>
          <a:bodyPr anchor="ctr"/>
          <a:lstStyle/>
          <a:p>
            <a:r>
              <a:rPr lang="en-US" dirty="0"/>
              <a:t>Data Visualization</a:t>
            </a:r>
          </a:p>
        </p:txBody>
      </p:sp>
      <p:pic>
        <p:nvPicPr>
          <p:cNvPr id="7" name="Content Placeholder 6">
            <a:extLst>
              <a:ext uri="{FF2B5EF4-FFF2-40B4-BE49-F238E27FC236}">
                <a16:creationId xmlns:a16="http://schemas.microsoft.com/office/drawing/2014/main" id="{F1363B5C-4C50-1793-C180-621582163E67}"/>
              </a:ext>
            </a:extLst>
          </p:cNvPr>
          <p:cNvPicPr>
            <a:picLocks noGrp="1" noChangeAspect="1"/>
          </p:cNvPicPr>
          <p:nvPr>
            <p:ph sz="quarter" idx="13"/>
          </p:nvPr>
        </p:nvPicPr>
        <p:blipFill>
          <a:blip r:embed="rId3"/>
          <a:stretch>
            <a:fillRect/>
          </a:stretch>
        </p:blipFill>
        <p:spPr>
          <a:xfrm>
            <a:off x="238433" y="1167423"/>
            <a:ext cx="5211763" cy="3728123"/>
          </a:xfrm>
          <a:prstGeom prst="rect">
            <a:avLst/>
          </a:prstGeom>
          <a:noFill/>
        </p:spPr>
      </p:pic>
      <p:pic>
        <p:nvPicPr>
          <p:cNvPr id="9" name="Content Placeholder 8">
            <a:extLst>
              <a:ext uri="{FF2B5EF4-FFF2-40B4-BE49-F238E27FC236}">
                <a16:creationId xmlns:a16="http://schemas.microsoft.com/office/drawing/2014/main" id="{340D4EDA-282C-E0EF-9851-1C6FD7816FC7}"/>
              </a:ext>
            </a:extLst>
          </p:cNvPr>
          <p:cNvPicPr>
            <a:picLocks noGrp="1" noChangeAspect="1"/>
          </p:cNvPicPr>
          <p:nvPr>
            <p:ph sz="quarter" idx="14"/>
          </p:nvPr>
        </p:nvPicPr>
        <p:blipFill>
          <a:blip r:embed="rId4"/>
          <a:stretch>
            <a:fillRect/>
          </a:stretch>
        </p:blipFill>
        <p:spPr>
          <a:xfrm>
            <a:off x="5450196" y="1405650"/>
            <a:ext cx="4894262" cy="3251667"/>
          </a:xfrm>
          <a:prstGeom prst="rect">
            <a:avLst/>
          </a:prstGeom>
          <a:noFill/>
        </p:spPr>
      </p:pic>
      <p:sp>
        <p:nvSpPr>
          <p:cNvPr id="5" name="Rectangle 4">
            <a:extLst>
              <a:ext uri="{FF2B5EF4-FFF2-40B4-BE49-F238E27FC236}">
                <a16:creationId xmlns:a16="http://schemas.microsoft.com/office/drawing/2014/main" id="{46AA2678-D2AD-6101-2A00-2289475AE8C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2243159397"/>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838200" y="365760"/>
            <a:ext cx="10515600" cy="993083"/>
          </a:xfrm>
          <a:noFill/>
        </p:spPr>
        <p:txBody>
          <a:bodyPr anchor="ctr"/>
          <a:lstStyle/>
          <a:p>
            <a:r>
              <a:rPr lang="en-US" dirty="0"/>
              <a:t>Methodology</a:t>
            </a:r>
          </a:p>
        </p:txBody>
      </p:sp>
      <p:sp>
        <p:nvSpPr>
          <p:cNvPr id="5" name="Rectangle 4">
            <a:extLst>
              <a:ext uri="{FF2B5EF4-FFF2-40B4-BE49-F238E27FC236}">
                <a16:creationId xmlns:a16="http://schemas.microsoft.com/office/drawing/2014/main" id="{C80227B8-A24C-8C29-034A-D7700B88768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7" name="Picture 6">
            <a:extLst>
              <a:ext uri="{FF2B5EF4-FFF2-40B4-BE49-F238E27FC236}">
                <a16:creationId xmlns:a16="http://schemas.microsoft.com/office/drawing/2014/main" id="{33AE7ED6-C2A3-960F-0F53-25D5C5E34DCB}"/>
              </a:ext>
            </a:extLst>
          </p:cNvPr>
          <p:cNvPicPr>
            <a:picLocks noChangeAspect="1"/>
          </p:cNvPicPr>
          <p:nvPr/>
        </p:nvPicPr>
        <p:blipFill>
          <a:blip r:embed="rId3"/>
          <a:stretch>
            <a:fillRect/>
          </a:stretch>
        </p:blipFill>
        <p:spPr>
          <a:xfrm>
            <a:off x="2507015" y="1160206"/>
            <a:ext cx="6917894" cy="4845289"/>
          </a:xfrm>
          <a:prstGeom prst="rect">
            <a:avLst/>
          </a:prstGeom>
        </p:spPr>
      </p:pic>
    </p:spTree>
    <p:extLst>
      <p:ext uri="{BB962C8B-B14F-4D97-AF65-F5344CB8AC3E}">
        <p14:creationId xmlns:p14="http://schemas.microsoft.com/office/powerpoint/2010/main" val="729609147"/>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1" y="448056"/>
            <a:ext cx="6172200" cy="574499"/>
          </a:xfrm>
          <a:noFill/>
        </p:spPr>
        <p:txBody>
          <a:bodyPr anchor="b"/>
          <a:lstStyle/>
          <a:p>
            <a:r>
              <a:rPr lang="en-US" dirty="0"/>
              <a:t>Machine Learning Models</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975852" y="1396181"/>
            <a:ext cx="4894006" cy="4375354"/>
          </a:xfrm>
          <a:noFill/>
        </p:spPr>
        <p:txBody>
          <a:bodyPr vert="horz" lIns="91440" tIns="45720" rIns="91440" bIns="45720" rtlCol="0" anchor="t">
            <a:normAutofit/>
          </a:bodyPr>
          <a:lstStyle/>
          <a:p>
            <a:r>
              <a:rPr lang="en-US" b="1" dirty="0"/>
              <a:t>Models Evaluated :</a:t>
            </a:r>
          </a:p>
          <a:p>
            <a:endParaRPr lang="en-US" b="1" dirty="0"/>
          </a:p>
          <a:p>
            <a:r>
              <a:rPr lang="en-US" b="1" dirty="0"/>
              <a:t>Logistic Regression</a:t>
            </a:r>
          </a:p>
          <a:p>
            <a:pPr marL="285750" indent="-285750">
              <a:buFont typeface="Arial" panose="020B0604020202020204" pitchFamily="34" charset="0"/>
              <a:buChar char="•"/>
            </a:pPr>
            <a:r>
              <a:rPr lang="en-US" dirty="0"/>
              <a:t>Baseline classification model </a:t>
            </a:r>
          </a:p>
          <a:p>
            <a:pPr marL="285750" indent="-285750">
              <a:buFont typeface="Arial" panose="020B0604020202020204" pitchFamily="34" charset="0"/>
              <a:buChar char="•"/>
            </a:pPr>
            <a:r>
              <a:rPr lang="en-US" dirty="0"/>
              <a:t>Fast and interpretable </a:t>
            </a:r>
          </a:p>
          <a:p>
            <a:r>
              <a:rPr lang="en-US" b="1" dirty="0"/>
              <a:t>Random Forest</a:t>
            </a:r>
          </a:p>
          <a:p>
            <a:pPr marL="285750" indent="-285750">
              <a:buFont typeface="Arial" panose="020B0604020202020204" pitchFamily="34" charset="0"/>
              <a:buChar char="•"/>
            </a:pPr>
            <a:r>
              <a:rPr lang="en-US" dirty="0"/>
              <a:t>Ensemble learning method </a:t>
            </a:r>
          </a:p>
          <a:p>
            <a:pPr marL="285750" indent="-285750">
              <a:buFont typeface="Arial" panose="020B0604020202020204" pitchFamily="34" charset="0"/>
              <a:buChar char="•"/>
            </a:pPr>
            <a:r>
              <a:rPr lang="en-US" dirty="0"/>
              <a:t>High robustness and accuracy </a:t>
            </a:r>
          </a:p>
          <a:p>
            <a:r>
              <a:rPr lang="en-US" b="1" dirty="0"/>
              <a:t>XGBoost</a:t>
            </a:r>
          </a:p>
          <a:p>
            <a:pPr marL="285750" indent="-285750">
              <a:buFont typeface="Arial" panose="020B0604020202020204" pitchFamily="34" charset="0"/>
              <a:buChar char="•"/>
            </a:pPr>
            <a:r>
              <a:rPr lang="en-US" dirty="0"/>
              <a:t>Gradient boosting algorithm </a:t>
            </a:r>
          </a:p>
          <a:p>
            <a:pPr marL="285750" indent="-285750">
              <a:buFont typeface="Arial" panose="020B0604020202020204" pitchFamily="34" charset="0"/>
              <a:buChar char="•"/>
            </a:pPr>
            <a:r>
              <a:rPr lang="en-US" dirty="0"/>
              <a:t>State-of-the-art performance</a:t>
            </a:r>
          </a:p>
        </p:txBody>
      </p:sp>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Tree>
    <p:extLst>
      <p:ext uri="{BB962C8B-B14F-4D97-AF65-F5344CB8AC3E}">
        <p14:creationId xmlns:p14="http://schemas.microsoft.com/office/powerpoint/2010/main" val="1649597717"/>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838200" y="365760"/>
            <a:ext cx="10515600" cy="1325563"/>
          </a:xfrm>
          <a:noFill/>
        </p:spPr>
        <p:txBody>
          <a:bodyPr anchor="ctr"/>
          <a:lstStyle/>
          <a:p>
            <a:r>
              <a:rPr lang="en-US" dirty="0"/>
              <a:t>Performance Evaluation Metrics</a:t>
            </a:r>
          </a:p>
        </p:txBody>
      </p:sp>
      <p:sp>
        <p:nvSpPr>
          <p:cNvPr id="3" name="Content Placeholder 2">
            <a:extLst>
              <a:ext uri="{FF2B5EF4-FFF2-40B4-BE49-F238E27FC236}">
                <a16:creationId xmlns:a16="http://schemas.microsoft.com/office/drawing/2014/main" id="{05948542-FCE1-3AE6-C6C9-17975609DF70}"/>
              </a:ext>
            </a:extLst>
          </p:cNvPr>
          <p:cNvSpPr>
            <a:spLocks noGrp="1"/>
          </p:cNvSpPr>
          <p:nvPr>
            <p:ph sz="quarter" idx="15"/>
          </p:nvPr>
        </p:nvSpPr>
        <p:spPr>
          <a:xfrm>
            <a:off x="838200" y="1790329"/>
            <a:ext cx="10360742" cy="4113054"/>
          </a:xfrm>
          <a:noFill/>
        </p:spPr>
        <p:txBody>
          <a:bodyPr vert="horz" lIns="91440" tIns="45720" rIns="91440" bIns="45720" rtlCol="0" anchor="t">
            <a:normAutofit fontScale="70000" lnSpcReduction="20000"/>
          </a:bodyPr>
          <a:lstStyle/>
          <a:p>
            <a:pPr algn="ctr"/>
            <a:r>
              <a:rPr lang="en-US" sz="1700" b="1" dirty="0"/>
              <a:t>Evaluation Metrics :</a:t>
            </a:r>
          </a:p>
          <a:p>
            <a:pPr algn="ctr"/>
            <a:r>
              <a:rPr lang="en-US" sz="1700" b="1" dirty="0">
                <a:sym typeface="Wingdings" panose="05000000000000000000" pitchFamily="2" charset="2"/>
              </a:rPr>
              <a:t> </a:t>
            </a:r>
            <a:r>
              <a:rPr lang="en-US" sz="1700" b="1" dirty="0"/>
              <a:t>Accuracy</a:t>
            </a:r>
          </a:p>
          <a:p>
            <a:pPr algn="ctr"/>
            <a:r>
              <a:rPr lang="en-US" sz="1700" dirty="0"/>
              <a:t>Measures overall prediction correctness.</a:t>
            </a:r>
          </a:p>
          <a:p>
            <a:pPr algn="ctr"/>
            <a:r>
              <a:rPr lang="en-US" sz="1700" b="1" dirty="0">
                <a:sym typeface="Wingdings" panose="05000000000000000000" pitchFamily="2" charset="2"/>
              </a:rPr>
              <a:t> </a:t>
            </a:r>
            <a:r>
              <a:rPr lang="en-US" sz="1700" b="1" dirty="0"/>
              <a:t>Precision</a:t>
            </a:r>
          </a:p>
          <a:p>
            <a:pPr algn="ctr"/>
            <a:r>
              <a:rPr lang="en-US" sz="1700" dirty="0"/>
              <a:t>Measures reliability of positive predictions.</a:t>
            </a:r>
          </a:p>
          <a:p>
            <a:pPr algn="ctr"/>
            <a:r>
              <a:rPr lang="en-US" sz="1700" b="1" dirty="0">
                <a:sym typeface="Wingdings" panose="05000000000000000000" pitchFamily="2" charset="2"/>
              </a:rPr>
              <a:t> </a:t>
            </a:r>
            <a:r>
              <a:rPr lang="en-US" sz="1700" b="1" dirty="0"/>
              <a:t>Recall</a:t>
            </a:r>
          </a:p>
          <a:p>
            <a:pPr algn="ctr"/>
            <a:r>
              <a:rPr lang="en-US" sz="1700" dirty="0"/>
              <a:t>Measures ability to identify failures</a:t>
            </a:r>
            <a:r>
              <a:rPr lang="en-US" sz="1700" b="1" dirty="0"/>
              <a:t>.</a:t>
            </a:r>
          </a:p>
          <a:p>
            <a:pPr algn="ctr"/>
            <a:r>
              <a:rPr lang="en-US" sz="1700" b="1" dirty="0">
                <a:sym typeface="Wingdings" panose="05000000000000000000" pitchFamily="2" charset="2"/>
              </a:rPr>
              <a:t> </a:t>
            </a:r>
            <a:r>
              <a:rPr lang="en-US" sz="1700" b="1" dirty="0"/>
              <a:t>F1 Score</a:t>
            </a:r>
          </a:p>
          <a:p>
            <a:pPr algn="ctr"/>
            <a:r>
              <a:rPr lang="en-US" sz="1700" dirty="0"/>
              <a:t>Balances precision and recall.</a:t>
            </a:r>
          </a:p>
          <a:p>
            <a:pPr algn="ctr"/>
            <a:r>
              <a:rPr lang="en-US" sz="1700" b="1" dirty="0">
                <a:sym typeface="Wingdings" panose="05000000000000000000" pitchFamily="2" charset="2"/>
              </a:rPr>
              <a:t> </a:t>
            </a:r>
            <a:r>
              <a:rPr lang="en-US" sz="1700" b="1" dirty="0"/>
              <a:t>ROC-AUC</a:t>
            </a:r>
          </a:p>
          <a:p>
            <a:pPr algn="ctr"/>
            <a:r>
              <a:rPr lang="en-US" sz="1700" dirty="0"/>
              <a:t>Measures model discrimination capability.</a:t>
            </a:r>
          </a:p>
        </p:txBody>
      </p:sp>
      <p:sp>
        <p:nvSpPr>
          <p:cNvPr id="5" name="Rectangle 4">
            <a:extLst>
              <a:ext uri="{FF2B5EF4-FFF2-40B4-BE49-F238E27FC236}">
                <a16:creationId xmlns:a16="http://schemas.microsoft.com/office/drawing/2014/main" id="{3EE39F69-A1C6-AF25-B91E-7EEE8ED9E9D8}"/>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64377799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DA972-BD3A-3DCD-81F1-7AF161F58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60FE33-53A6-E75A-9BA0-8B7B1BFDD51E}"/>
              </a:ext>
            </a:extLst>
          </p:cNvPr>
          <p:cNvSpPr>
            <a:spLocks noGrp="1"/>
          </p:cNvSpPr>
          <p:nvPr>
            <p:ph type="title"/>
          </p:nvPr>
        </p:nvSpPr>
        <p:spPr>
          <a:xfrm>
            <a:off x="838200" y="365125"/>
            <a:ext cx="10515600" cy="1325563"/>
          </a:xfrm>
          <a:noFill/>
        </p:spPr>
        <p:txBody>
          <a:bodyPr anchor="ctr"/>
          <a:lstStyle/>
          <a:p>
            <a:r>
              <a:rPr lang="en-US" dirty="0"/>
              <a:t>Results Comparison</a:t>
            </a:r>
          </a:p>
        </p:txBody>
      </p:sp>
      <p:graphicFrame>
        <p:nvGraphicFramePr>
          <p:cNvPr id="6" name="Table Placeholder 5">
            <a:extLst>
              <a:ext uri="{FF2B5EF4-FFF2-40B4-BE49-F238E27FC236}">
                <a16:creationId xmlns:a16="http://schemas.microsoft.com/office/drawing/2014/main" id="{F38DE064-4776-D760-646E-17841F91A2C2}"/>
              </a:ext>
            </a:extLst>
          </p:cNvPr>
          <p:cNvGraphicFramePr>
            <a:graphicFrameLocks noGrp="1"/>
          </p:cNvGraphicFramePr>
          <p:nvPr>
            <p:ph type="tbl" sz="quarter" idx="13"/>
            <p:extLst>
              <p:ext uri="{D42A27DB-BD31-4B8C-83A1-F6EECF244321}">
                <p14:modId xmlns:p14="http://schemas.microsoft.com/office/powerpoint/2010/main" val="1514308774"/>
              </p:ext>
            </p:extLst>
          </p:nvPr>
        </p:nvGraphicFramePr>
        <p:xfrm>
          <a:off x="6554420" y="2568011"/>
          <a:ext cx="4932620" cy="1976284"/>
        </p:xfrm>
        <a:graphic>
          <a:graphicData uri="http://schemas.openxmlformats.org/drawingml/2006/table">
            <a:tbl>
              <a:tblPr firstRow="1" bandRow="1">
                <a:tableStyleId>{7E9639D4-E3E2-4D34-9284-5A2195B3D0D7}</a:tableStyleId>
              </a:tblPr>
              <a:tblGrid>
                <a:gridCol w="2466310">
                  <a:extLst>
                    <a:ext uri="{9D8B030D-6E8A-4147-A177-3AD203B41FA5}">
                      <a16:colId xmlns:a16="http://schemas.microsoft.com/office/drawing/2014/main" val="1258236080"/>
                    </a:ext>
                  </a:extLst>
                </a:gridCol>
                <a:gridCol w="2466310">
                  <a:extLst>
                    <a:ext uri="{9D8B030D-6E8A-4147-A177-3AD203B41FA5}">
                      <a16:colId xmlns:a16="http://schemas.microsoft.com/office/drawing/2014/main" val="1844343421"/>
                    </a:ext>
                  </a:extLst>
                </a:gridCol>
              </a:tblGrid>
              <a:tr h="494071">
                <a:tc>
                  <a:txBody>
                    <a:bodyPr/>
                    <a:lstStyle/>
                    <a:p>
                      <a:pPr algn="ctr"/>
                      <a:r>
                        <a:rPr lang="en-US" dirty="0"/>
                        <a:t>Model</a:t>
                      </a:r>
                    </a:p>
                  </a:txBody>
                  <a:tcPr/>
                </a:tc>
                <a:tc>
                  <a:txBody>
                    <a:bodyPr/>
                    <a:lstStyle/>
                    <a:p>
                      <a:pPr algn="ctr"/>
                      <a:r>
                        <a:rPr lang="en-US" dirty="0"/>
                        <a:t>Accuracy</a:t>
                      </a:r>
                    </a:p>
                  </a:txBody>
                  <a:tcPr/>
                </a:tc>
                <a:extLst>
                  <a:ext uri="{0D108BD9-81ED-4DB2-BD59-A6C34878D82A}">
                    <a16:rowId xmlns:a16="http://schemas.microsoft.com/office/drawing/2014/main" val="1881346111"/>
                  </a:ext>
                </a:extLst>
              </a:tr>
              <a:tr h="494071">
                <a:tc>
                  <a:txBody>
                    <a:bodyPr/>
                    <a:lstStyle/>
                    <a:p>
                      <a:pPr algn="ctr"/>
                      <a:r>
                        <a:rPr lang="en-US" dirty="0"/>
                        <a:t>Logistic Regression</a:t>
                      </a:r>
                    </a:p>
                  </a:txBody>
                  <a:tcPr/>
                </a:tc>
                <a:tc>
                  <a:txBody>
                    <a:bodyPr/>
                    <a:lstStyle/>
                    <a:p>
                      <a:pPr algn="ctr"/>
                      <a:r>
                        <a:rPr lang="en-US" dirty="0"/>
                        <a:t>82.1%</a:t>
                      </a:r>
                    </a:p>
                  </a:txBody>
                  <a:tcPr/>
                </a:tc>
                <a:extLst>
                  <a:ext uri="{0D108BD9-81ED-4DB2-BD59-A6C34878D82A}">
                    <a16:rowId xmlns:a16="http://schemas.microsoft.com/office/drawing/2014/main" val="272436628"/>
                  </a:ext>
                </a:extLst>
              </a:tr>
              <a:tr h="494071">
                <a:tc>
                  <a:txBody>
                    <a:bodyPr/>
                    <a:lstStyle/>
                    <a:p>
                      <a:pPr algn="ctr"/>
                      <a:r>
                        <a:rPr lang="en-US" dirty="0"/>
                        <a:t>Random Forest</a:t>
                      </a:r>
                    </a:p>
                  </a:txBody>
                  <a:tcPr/>
                </a:tc>
                <a:tc>
                  <a:txBody>
                    <a:bodyPr/>
                    <a:lstStyle/>
                    <a:p>
                      <a:pPr algn="ctr"/>
                      <a:r>
                        <a:rPr lang="en-US" dirty="0"/>
                        <a:t>99.1%</a:t>
                      </a:r>
                    </a:p>
                  </a:txBody>
                  <a:tcPr/>
                </a:tc>
                <a:extLst>
                  <a:ext uri="{0D108BD9-81ED-4DB2-BD59-A6C34878D82A}">
                    <a16:rowId xmlns:a16="http://schemas.microsoft.com/office/drawing/2014/main" val="507608581"/>
                  </a:ext>
                </a:extLst>
              </a:tr>
              <a:tr h="494071">
                <a:tc>
                  <a:txBody>
                    <a:bodyPr/>
                    <a:lstStyle/>
                    <a:p>
                      <a:pPr algn="ctr"/>
                      <a:r>
                        <a:rPr lang="en-US" dirty="0"/>
                        <a:t>XGBoost</a:t>
                      </a:r>
                    </a:p>
                  </a:txBody>
                  <a:tcPr/>
                </a:tc>
                <a:tc>
                  <a:txBody>
                    <a:bodyPr/>
                    <a:lstStyle/>
                    <a:p>
                      <a:pPr algn="ctr"/>
                      <a:r>
                        <a:rPr lang="en-US" dirty="0"/>
                        <a:t>98.4%</a:t>
                      </a:r>
                    </a:p>
                  </a:txBody>
                  <a:tcPr/>
                </a:tc>
                <a:extLst>
                  <a:ext uri="{0D108BD9-81ED-4DB2-BD59-A6C34878D82A}">
                    <a16:rowId xmlns:a16="http://schemas.microsoft.com/office/drawing/2014/main" val="1220982942"/>
                  </a:ext>
                </a:extLst>
              </a:tr>
            </a:tbl>
          </a:graphicData>
        </a:graphic>
      </p:graphicFrame>
      <p:pic>
        <p:nvPicPr>
          <p:cNvPr id="10" name="Picture 9">
            <a:extLst>
              <a:ext uri="{FF2B5EF4-FFF2-40B4-BE49-F238E27FC236}">
                <a16:creationId xmlns:a16="http://schemas.microsoft.com/office/drawing/2014/main" id="{A2DCBF61-89CC-33F3-8142-8D8B8DC5D8C0}"/>
              </a:ext>
            </a:extLst>
          </p:cNvPr>
          <p:cNvPicPr>
            <a:picLocks noChangeAspect="1"/>
          </p:cNvPicPr>
          <p:nvPr/>
        </p:nvPicPr>
        <p:blipFill>
          <a:blip r:embed="rId3"/>
          <a:stretch>
            <a:fillRect/>
          </a:stretch>
        </p:blipFill>
        <p:spPr>
          <a:xfrm>
            <a:off x="1049123" y="1582993"/>
            <a:ext cx="4588459" cy="4642283"/>
          </a:xfrm>
          <a:prstGeom prst="rect">
            <a:avLst/>
          </a:prstGeom>
        </p:spPr>
      </p:pic>
    </p:spTree>
    <p:extLst>
      <p:ext uri="{BB962C8B-B14F-4D97-AF65-F5344CB8AC3E}">
        <p14:creationId xmlns:p14="http://schemas.microsoft.com/office/powerpoint/2010/main" val="423369127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970DF-39F8-92BC-B2E3-41BE544EDD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418A82-E6AB-9E50-264C-C2F6500CB3F2}"/>
              </a:ext>
            </a:extLst>
          </p:cNvPr>
          <p:cNvSpPr>
            <a:spLocks noGrp="1"/>
          </p:cNvSpPr>
          <p:nvPr>
            <p:ph type="title"/>
          </p:nvPr>
        </p:nvSpPr>
        <p:spPr>
          <a:xfrm>
            <a:off x="838200" y="365760"/>
            <a:ext cx="10515600" cy="1325563"/>
          </a:xfrm>
          <a:noFill/>
        </p:spPr>
        <p:txBody>
          <a:bodyPr anchor="ctr"/>
          <a:lstStyle/>
          <a:p>
            <a:r>
              <a:rPr lang="en-US" dirty="0"/>
              <a:t>Research Question-Answers &amp; Conclusion</a:t>
            </a:r>
          </a:p>
        </p:txBody>
      </p:sp>
      <p:sp>
        <p:nvSpPr>
          <p:cNvPr id="3" name="Content Placeholder 2">
            <a:extLst>
              <a:ext uri="{FF2B5EF4-FFF2-40B4-BE49-F238E27FC236}">
                <a16:creationId xmlns:a16="http://schemas.microsoft.com/office/drawing/2014/main" id="{0AD97ECA-84CD-5F37-58A5-F93C5A4AC19B}"/>
              </a:ext>
            </a:extLst>
          </p:cNvPr>
          <p:cNvSpPr>
            <a:spLocks noGrp="1"/>
          </p:cNvSpPr>
          <p:nvPr>
            <p:ph sz="quarter" idx="15"/>
          </p:nvPr>
        </p:nvSpPr>
        <p:spPr>
          <a:xfrm>
            <a:off x="838200" y="1583852"/>
            <a:ext cx="10360742" cy="4113054"/>
          </a:xfrm>
          <a:noFill/>
        </p:spPr>
        <p:txBody>
          <a:bodyPr vert="horz" lIns="91440" tIns="45720" rIns="91440" bIns="45720" rtlCol="0" anchor="t">
            <a:normAutofit/>
          </a:bodyPr>
          <a:lstStyle/>
          <a:p>
            <a:r>
              <a:rPr lang="en-US" sz="1600" b="1" dirty="0"/>
              <a:t>RQ1 - </a:t>
            </a:r>
            <a:r>
              <a:rPr lang="en-US" sz="1600" dirty="0"/>
              <a:t>Machine learning models successfully predicted failures with high accuracy.</a:t>
            </a:r>
          </a:p>
          <a:p>
            <a:r>
              <a:rPr lang="en-US" sz="1600" b="1" dirty="0"/>
              <a:t>RQ2 - </a:t>
            </a:r>
            <a:r>
              <a:rPr lang="en-US" sz="1600" dirty="0"/>
              <a:t>Random Forest outperformed XGBoost and Logistic Regression.</a:t>
            </a:r>
          </a:p>
          <a:p>
            <a:r>
              <a:rPr lang="en-US" sz="1600" b="1" dirty="0"/>
              <a:t>RQ3 - </a:t>
            </a:r>
            <a:r>
              <a:rPr lang="en-US" sz="1600" dirty="0"/>
              <a:t>Tool Wear, Torque, and Rotational Speed were identified as the most influential features.</a:t>
            </a:r>
          </a:p>
          <a:p>
            <a:endParaRPr lang="en-US" sz="1600" b="1" dirty="0"/>
          </a:p>
          <a:p>
            <a:r>
              <a:rPr lang="en-US" sz="1600" b="1" dirty="0"/>
              <a:t>Final Conclusion</a:t>
            </a:r>
          </a:p>
          <a:p>
            <a:r>
              <a:rPr lang="en-US" sz="1600" dirty="0"/>
              <a:t>Machine learning can effectively support predictive maintenance by enabling early fault detection and reducing unexpected downtime.</a:t>
            </a:r>
          </a:p>
        </p:txBody>
      </p:sp>
      <p:sp>
        <p:nvSpPr>
          <p:cNvPr id="5" name="Rectangle 4">
            <a:extLst>
              <a:ext uri="{FF2B5EF4-FFF2-40B4-BE49-F238E27FC236}">
                <a16:creationId xmlns:a16="http://schemas.microsoft.com/office/drawing/2014/main" id="{AE10AA48-C1F7-F3D2-184B-CFE0A473CF5F}"/>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861583189"/>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11" descr="A close up of dots&#10;">
            <a:extLst>
              <a:ext uri="{FF2B5EF4-FFF2-40B4-BE49-F238E27FC236}">
                <a16:creationId xmlns:a16="http://schemas.microsoft.com/office/drawing/2014/main" id="{030E03B4-DAB0-F43D-4B1C-C54F75E621A1}"/>
              </a:ext>
            </a:extLst>
          </p:cNvPr>
          <p:cNvPicPr>
            <a:picLocks noGrp="1" noChangeAspect="1"/>
          </p:cNvPicPr>
          <p:nvPr>
            <p:ph type="pic" sz="quarter" idx="11"/>
          </p:nvPr>
        </p:nvPicPr>
        <p:blipFill>
          <a:blip r:embed="rId2"/>
          <a:srcRect/>
          <a:stretch/>
        </p:blipFill>
        <p:spPr>
          <a:xfrm>
            <a:off x="0" y="0"/>
            <a:ext cx="12192000" cy="6858000"/>
          </a:xfrm>
        </p:spPr>
      </p:pic>
      <p:sp>
        <p:nvSpPr>
          <p:cNvPr id="7" name="Title 6">
            <a:extLst>
              <a:ext uri="{FF2B5EF4-FFF2-40B4-BE49-F238E27FC236}">
                <a16:creationId xmlns:a16="http://schemas.microsoft.com/office/drawing/2014/main" id="{4AB1CD4B-2C7F-1593-8E69-B7450F3DCAD6}"/>
              </a:ext>
            </a:extLst>
          </p:cNvPr>
          <p:cNvSpPr>
            <a:spLocks noGrp="1"/>
          </p:cNvSpPr>
          <p:nvPr>
            <p:ph type="title"/>
          </p:nvPr>
        </p:nvSpPr>
        <p:spPr>
          <a:xfrm>
            <a:off x="1018308" y="2546555"/>
            <a:ext cx="9467127" cy="1453557"/>
          </a:xfrm>
        </p:spPr>
        <p:txBody>
          <a:bodyPr/>
          <a:lstStyle/>
          <a:p>
            <a:r>
              <a:rPr lang="en-US" sz="8000" dirty="0"/>
              <a:t>THANK YOU</a:t>
            </a:r>
          </a:p>
        </p:txBody>
      </p:sp>
    </p:spTree>
    <p:extLst>
      <p:ext uri="{BB962C8B-B14F-4D97-AF65-F5344CB8AC3E}">
        <p14:creationId xmlns:p14="http://schemas.microsoft.com/office/powerpoint/2010/main" val="2184472291"/>
      </p:ext>
    </p:extLst>
  </p:cSld>
  <p:clrMapOvr>
    <a:masterClrMapping/>
  </p:clrMapOvr>
  <p:transition spd="slow">
    <p:push dir="u"/>
  </p:transition>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2.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Tech presentation</Template>
  <TotalTime>504</TotalTime>
  <Words>448</Words>
  <Application>Microsoft Office PowerPoint</Application>
  <PresentationFormat>Widescreen</PresentationFormat>
  <Paragraphs>92</Paragraphs>
  <Slides>13</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Calibri</vt:lpstr>
      <vt:lpstr>Calibri Light</vt:lpstr>
      <vt:lpstr>Wingdings</vt:lpstr>
      <vt:lpstr>Custom</vt:lpstr>
      <vt:lpstr>Predictive Maintenance Using Machine Learning for Early Fault Detection</vt:lpstr>
      <vt:lpstr>Problem Statement</vt:lpstr>
      <vt:lpstr>Research Objectives</vt:lpstr>
      <vt:lpstr>RQ1 How accurately can machine learning models predict machine failures using sensor data?   RQ2 Which machine learning model provides the best predictive performance?   RQ3 Which operational parameters contribute most significantly to machine failure prediction?</vt:lpstr>
      <vt:lpstr>Literature Review</vt:lpstr>
      <vt:lpstr>Dataset Characteristics Total Records: 10,000  Balanced Dataset: 5,000 Failure &amp; 5,000 Non-Failure  Multiple sensor measurements  Industrial machine data   Features Air Temperature  Process Temperature  Rotational Speed  Torque  Tool Wear  Machine Type   Target Variable Machine Failure (0 / 1)</vt:lpstr>
      <vt:lpstr>Data Visualization</vt:lpstr>
      <vt:lpstr>Methodology</vt:lpstr>
      <vt:lpstr>Machine Learning Models</vt:lpstr>
      <vt:lpstr>Performance Evaluation Metrics</vt:lpstr>
      <vt:lpstr>Results Comparison</vt:lpstr>
      <vt:lpstr>Research Question-Answers &amp; 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 Prajwal</dc:creator>
  <cp:lastModifiedBy>G Prajwal</cp:lastModifiedBy>
  <cp:revision>12</cp:revision>
  <dcterms:created xsi:type="dcterms:W3CDTF">2026-06-13T14:56:10Z</dcterms:created>
  <dcterms:modified xsi:type="dcterms:W3CDTF">2026-07-01T09:40:13Z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